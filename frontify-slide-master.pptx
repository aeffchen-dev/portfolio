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1 – Cover">
    <p:bg>
      <p:bgPr>
        <a:solidFill>
          <a:srgbClr val="100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  <p:ph type="title" idx="0"/>
          </p:cNvSpPr>
          <p:nvPr/>
        </p:nvSpPr>
        <p:spPr>
          <a:xfrm>
            <a:off x="822960" y="1005840"/>
            <a:ext cx="8686800" cy="292608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7200" b="1" dirty="0">
                <a:solidFill>
                  <a:srgbClr val="FFFFFF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1" name="Subtitle"/>
          <p:cNvSpPr>
            <a:spLocks noGrp="1"/>
            <p:ph type="subTitle" idx="1"/>
          </p:cNvSpPr>
          <p:nvPr/>
        </p:nvSpPr>
        <p:spPr>
          <a:xfrm>
            <a:off x="822960" y="41605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2200" b="0" dirty="0">
                <a:solidFill>
                  <a:srgbClr val="C8C4D8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10" name="Rule"/>
          <p:cNvSpPr>
            <a:spLocks noGrp="1"/>
          </p:cNvSpPr>
          <p:nvPr/>
        </p:nvSpPr>
        <p:spPr>
          <a:xfrm>
            <a:off x="822960" y="4023360"/>
            <a:ext cx="2194560" cy="38100"/>
          </a:xfrm>
          <a:prstGeom prst="rect">
            <a:avLst/>
          </a:prstGeom>
          <a:solidFill>
            <a:srgbClr val="5834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1" name="DateLine"/>
          <p:cNvSpPr txBox="1">
            <a:spLocks noGrp="1"/>
          </p:cNvSpPr>
          <p:nvPr/>
        </p:nvSpPr>
        <p:spPr>
          <a:xfrm>
            <a:off x="822960" y="507492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1400" b="0" i="0" dirty="0">
                <a:solidFill>
                  <a:srgbClr val="8884A0"/>
                </a:solidFill>
                <a:latin typeface="Inter"/>
              </a:rPr>
              <a:t>A Frontify Guide  ·  2024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02 – Title and Content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"/>
          <p:cNvSpPr>
            <a:spLocks noGrp="1"/>
            <p:ph type="title" idx="0"/>
          </p:cNvSpPr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3600" b="1" dirty="0">
                <a:solidFill>
                  <a:srgbClr val="1A162A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21" name="Rule"/>
          <p:cNvSpPr>
            <a:spLocks noGrp="1"/>
          </p:cNvSpPr>
          <p:nvPr/>
        </p:nvSpPr>
        <p:spPr>
          <a:xfrm>
            <a:off x="822960" y="1417320"/>
            <a:ext cx="10515600" cy="12700"/>
          </a:xfrm>
          <a:prstGeom prst="rect">
            <a:avLst/>
          </a:prstGeom>
          <a:solidFill>
            <a:srgbClr val="E3DBC8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Content"/>
          <p:cNvSpPr>
            <a:spLocks noGrp="1"/>
            <p:ph type="body" idx="1"/>
          </p:cNvSpPr>
          <p:nvPr/>
        </p:nvSpPr>
        <p:spPr>
          <a:xfrm>
            <a:off x="822960" y="1600200"/>
            <a:ext cx="10515600" cy="4572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1800" b="0" dirty="0">
                <a:solidFill>
                  <a:srgbClr val="1A162A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03 – Section Header">
    <p:bg>
      <p:bgPr>
        <a:solidFill>
          <a:srgbClr val="100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ColorBlock"/>
          <p:cNvSpPr>
            <a:spLocks noGrp="1"/>
          </p:cNvSpPr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5834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1" name="ChapterNum"/>
          <p:cNvSpPr txBox="1">
            <a:spLocks noGrp="1"/>
          </p:cNvSpPr>
          <p:nvPr/>
        </p:nvSpPr>
        <p:spPr>
          <a:xfrm>
            <a:off x="91440" y="-731520"/>
            <a:ext cx="5120640" cy="5943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26000" b="1" i="0" dirty="0">
                <a:solidFill>
                  <a:srgbClr val="7B5CF0"/>
                </a:solidFill>
                <a:latin typeface="Montserrat"/>
              </a:rPr>
              <a:t>01</a:t>
            </a:r>
          </a:p>
        </p:txBody>
      </p:sp>
      <p:sp>
        <p:nvSpPr>
          <p:cNvPr id="1032" name="ChapterLabel"/>
          <p:cNvSpPr txBox="1">
            <a:spLocks noGrp="1"/>
          </p:cNvSpPr>
          <p:nvPr/>
        </p:nvSpPr>
        <p:spPr>
          <a:xfrm>
            <a:off x="5760720" y="1280160"/>
            <a:ext cx="594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1300" b="0" i="0" dirty="0">
                <a:solidFill>
                  <a:srgbClr val="C4B4FF"/>
                </a:solidFill>
                <a:latin typeface="Inter"/>
              </a:rPr>
              <a:t>CHAPTER 01</a:t>
            </a:r>
          </a:p>
        </p:txBody>
      </p:sp>
      <p:sp>
        <p:nvSpPr>
          <p:cNvPr id="33" name="ChapterTitle"/>
          <p:cNvSpPr>
            <a:spLocks noGrp="1"/>
            <p:ph type="title" idx="0"/>
          </p:cNvSpPr>
          <p:nvPr/>
        </p:nvSpPr>
        <p:spPr>
          <a:xfrm>
            <a:off x="5760720" y="1783080"/>
            <a:ext cx="5943600" cy="201168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5200" b="1" dirty="0">
                <a:solidFill>
                  <a:srgbClr val="FFFFFF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34" name="AccentRule"/>
          <p:cNvSpPr>
            <a:spLocks noGrp="1"/>
          </p:cNvSpPr>
          <p:nvPr/>
        </p:nvSpPr>
        <p:spPr>
          <a:xfrm>
            <a:off x="5760720" y="3886200"/>
            <a:ext cx="1828800" cy="25400"/>
          </a:xfrm>
          <a:prstGeom prst="rect">
            <a:avLst/>
          </a:prstGeom>
          <a:solidFill>
            <a:srgbClr val="C4B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ChapterDesc"/>
          <p:cNvSpPr>
            <a:spLocks noGrp="1"/>
            <p:ph type="body" idx="1"/>
          </p:cNvSpPr>
          <p:nvPr/>
        </p:nvSpPr>
        <p:spPr>
          <a:xfrm>
            <a:off x="5760720" y="4069080"/>
            <a:ext cx="5943600" cy="13716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1800" b="0" dirty="0">
                <a:solidFill>
                  <a:srgbClr val="C8C4D8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04 – Two Column">
    <p:bg>
      <p:bgPr>
        <a:solidFill>
          <a:srgbClr val="100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"/>
          <p:cNvSpPr>
            <a:spLocks noGrp="1"/>
            <p:ph type="title" idx="0"/>
          </p:cNvSpPr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3400" b="1" dirty="0">
                <a:solidFill>
                  <a:srgbClr val="FFFFFF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41" name="Rule"/>
          <p:cNvSpPr>
            <a:spLocks noGrp="1"/>
          </p:cNvSpPr>
          <p:nvPr/>
        </p:nvSpPr>
        <p:spPr>
          <a:xfrm>
            <a:off x="822960" y="1371600"/>
            <a:ext cx="10515600" cy="12700"/>
          </a:xfrm>
          <a:prstGeom prst="rect">
            <a:avLst/>
          </a:prstGeom>
          <a:solidFill>
            <a:srgbClr val="38345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LeftContent"/>
          <p:cNvSpPr>
            <a:spLocks noGrp="1"/>
            <p:ph type="body" idx="1"/>
          </p:cNvSpPr>
          <p:nvPr/>
        </p:nvSpPr>
        <p:spPr>
          <a:xfrm>
            <a:off x="822960" y="1554480"/>
            <a:ext cx="5029200" cy="484632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1700" b="0" dirty="0">
                <a:solidFill>
                  <a:srgbClr val="C8C4D8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43" name="RightContent"/>
          <p:cNvSpPr>
            <a:spLocks noGrp="1"/>
            <p:ph type="body" idx="2"/>
          </p:cNvSpPr>
          <p:nvPr/>
        </p:nvSpPr>
        <p:spPr>
          <a:xfrm>
            <a:off x="6492240" y="1554480"/>
            <a:ext cx="5029200" cy="484632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1700" b="0" dirty="0">
                <a:solidFill>
                  <a:srgbClr val="C8C4D8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44" name="ColDivider"/>
          <p:cNvSpPr>
            <a:spLocks noGrp="1"/>
          </p:cNvSpPr>
          <p:nvPr/>
        </p:nvSpPr>
        <p:spPr>
          <a:xfrm>
            <a:off x="6144768" y="1554480"/>
            <a:ext cx="12700" cy="4846320"/>
          </a:xfrm>
          <a:prstGeom prst="rect">
            <a:avLst/>
          </a:prstGeom>
          <a:solidFill>
            <a:srgbClr val="38345A"/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05 – Content + Image (right)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"/>
          <p:cNvSpPr>
            <a:spLocks noGrp="1"/>
            <p:ph type="title" idx="0"/>
          </p:cNvSpPr>
          <p:nvPr/>
        </p:nvSpPr>
        <p:spPr>
          <a:xfrm>
            <a:off x="822960" y="1005840"/>
            <a:ext cx="5303520" cy="164592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3800" b="1" dirty="0">
                <a:solidFill>
                  <a:srgbClr val="1A162A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51" name="Rule"/>
          <p:cNvSpPr>
            <a:spLocks noGrp="1"/>
          </p:cNvSpPr>
          <p:nvPr/>
        </p:nvSpPr>
        <p:spPr>
          <a:xfrm>
            <a:off x="822960" y="2788920"/>
            <a:ext cx="1280160" cy="25400"/>
          </a:xfrm>
          <a:prstGeom prst="rect">
            <a:avLst/>
          </a:prstGeom>
          <a:solidFill>
            <a:srgbClr val="5834E8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BodyText"/>
          <p:cNvSpPr>
            <a:spLocks noGrp="1"/>
            <p:ph type="body" idx="1"/>
          </p:cNvSpPr>
          <p:nvPr/>
        </p:nvSpPr>
        <p:spPr>
          <a:xfrm>
            <a:off x="822960" y="2926080"/>
            <a:ext cx="5303520" cy="283464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1700" b="0" dirty="0">
                <a:solidFill>
                  <a:srgbClr val="1A162A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53" name="ImageArea"/>
          <p:cNvSpPr>
            <a:spLocks noGrp="1"/>
          </p:cNvSpPr>
          <p:nvPr/>
        </p:nvSpPr>
        <p:spPr>
          <a:xfrm>
            <a:off x="6492240" y="0"/>
            <a:ext cx="5699455" cy="6858000"/>
          </a:xfrm>
          <a:prstGeom prst="rect">
            <a:avLst/>
          </a:prstGeom>
          <a:solidFill>
            <a:srgbClr val="D8D2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4" name="ImageLabel"/>
          <p:cNvSpPr txBox="1">
            <a:spLocks noGrp="1"/>
          </p:cNvSpPr>
          <p:nvPr/>
        </p:nvSpPr>
        <p:spPr>
          <a:xfrm>
            <a:off x="7772400" y="315468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tr"/>
            <a:r>
              <a:rPr lang="en-US" sz="1200" b="0" i="0" dirty="0">
                <a:solidFill>
                  <a:srgbClr val="8884A0"/>
                </a:solidFill>
                <a:latin typeface="Inter"/>
              </a:rPr>
              <a:t>[IMAGE]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06 – Title Only">
    <p:bg>
      <p:bgPr>
        <a:solidFill>
          <a:srgbClr val="100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"/>
          <p:cNvSpPr>
            <a:spLocks noGrp="1"/>
            <p:ph type="title" idx="0"/>
          </p:cNvSpPr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3600" b="1" dirty="0">
                <a:solidFill>
                  <a:srgbClr val="FFFFFF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61" name="Rule"/>
          <p:cNvSpPr>
            <a:spLocks noGrp="1"/>
          </p:cNvSpPr>
          <p:nvPr/>
        </p:nvSpPr>
        <p:spPr>
          <a:xfrm>
            <a:off x="822960" y="1417320"/>
            <a:ext cx="10515600" cy="12700"/>
          </a:xfrm>
          <a:prstGeom prst="rect">
            <a:avLst/>
          </a:prstGeom>
          <a:solidFill>
            <a:srgbClr val="38345A"/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07 – Blank (dark)">
    <p:bg>
      <p:bgPr>
        <a:solidFill>
          <a:srgbClr val="100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08 – Pull Quote">
    <p:bg>
      <p:bgPr>
        <a:solidFill>
          <a:srgbClr val="100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QuoteMark"/>
          <p:cNvSpPr txBox="1">
            <a:spLocks noGrp="1"/>
          </p:cNvSpPr>
          <p:nvPr/>
        </p:nvSpPr>
        <p:spPr>
          <a:xfrm>
            <a:off x="457200" y="-457200"/>
            <a:ext cx="274320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20000" b="1" i="0" dirty="0">
                <a:solidFill>
                  <a:srgbClr val="5834E8"/>
                </a:solidFill>
                <a:latin typeface="Montserrat"/>
              </a:rPr>
              <a:t>“</a:t>
            </a:r>
          </a:p>
        </p:txBody>
      </p:sp>
      <p:sp>
        <p:nvSpPr>
          <p:cNvPr id="71" name="QuoteText"/>
          <p:cNvSpPr>
            <a:spLocks noGrp="1"/>
            <p:ph type="body" idx="0"/>
          </p:cNvSpPr>
          <p:nvPr/>
        </p:nvSpPr>
        <p:spPr>
          <a:xfrm>
            <a:off x="822960" y="1645920"/>
            <a:ext cx="10515600" cy="265176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4400" b="1" dirty="0">
                <a:solidFill>
                  <a:srgbClr val="FFFFFF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72" name="AttrRule"/>
          <p:cNvSpPr>
            <a:spLocks noGrp="1"/>
          </p:cNvSpPr>
          <p:nvPr/>
        </p:nvSpPr>
        <p:spPr>
          <a:xfrm>
            <a:off x="822960" y="4480560"/>
            <a:ext cx="731520" cy="25400"/>
          </a:xfrm>
          <a:prstGeom prst="rect">
            <a:avLst/>
          </a:prstGeom>
          <a:solidFill>
            <a:srgbClr val="5834E8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Attribution"/>
          <p:cNvSpPr>
            <a:spLocks noGrp="1"/>
            <p:ph type="title" idx="1"/>
          </p:cNvSpPr>
          <p:nvPr/>
        </p:nvSpPr>
        <p:spPr>
          <a:xfrm>
            <a:off x="822960" y="46634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1500" b="0" dirty="0">
                <a:solidFill>
                  <a:srgbClr val="8884A0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09 – Full-Bleed Image">
    <p:bg>
      <p:bgPr>
        <a:solidFill>
          <a:srgbClr val="1814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ImageFill"/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1C3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81" name="ImageLabel"/>
          <p:cNvSpPr txBox="1">
            <a:spLocks noGrp="1"/>
          </p:cNvSpPr>
          <p:nvPr/>
        </p:nvSpPr>
        <p:spPr>
          <a:xfrm>
            <a:off x="5029200" y="3063240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tr"/>
            <a:r>
              <a:rPr lang="en-US" sz="1200" b="0" i="0" dirty="0">
                <a:solidFill>
                  <a:srgbClr val="8884A0"/>
                </a:solidFill>
                <a:latin typeface="Inter"/>
              </a:rPr>
              <a:t>[IMAGE]</a:t>
            </a:r>
          </a:p>
        </p:txBody>
      </p:sp>
      <p:sp>
        <p:nvSpPr>
          <p:cNvPr id="1082" name="Overlay"/>
          <p:cNvSpPr>
            <a:spLocks noGrp="1"/>
          </p:cNvSpPr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8060E"/>
          </a:solidFill>
          <a:ln>
            <a:noFill/>
          </a:ln>
        </p:spPr>
        <p:txBody>
          <a:bodyPr/>
          <a:lstStyle/>
          <a:p/>
        </p:txBody>
      </p:sp>
      <p:sp>
        <p:nvSpPr>
          <p:cNvPr id="83" name="Caption"/>
          <p:cNvSpPr>
            <a:spLocks noGrp="1"/>
            <p:ph type="title" idx="0"/>
          </p:cNvSpPr>
          <p:nvPr/>
        </p:nvSpPr>
        <p:spPr>
          <a:xfrm>
            <a:off x="822960" y="3931920"/>
            <a:ext cx="10515600" cy="155448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4000" b="1" dirty="0">
                <a:solidFill>
                  <a:srgbClr val="FFFFFF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84" name="Credit"/>
          <p:cNvSpPr>
            <a:spLocks noGrp="1"/>
            <p:ph type="body" idx="1"/>
          </p:cNvSpPr>
          <p:nvPr/>
        </p:nvSpPr>
        <p:spPr>
          <a:xfrm>
            <a:off x="822960" y="5760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1300" b="0" dirty="0">
                <a:solidFill>
                  <a:srgbClr val="8884A0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0 – Key Insight">
    <p:bg>
      <p:bgPr>
        <a:solidFill>
          <a:srgbClr val="5834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Corner"/>
          <p:cNvSpPr>
            <a:spLocks noGrp="1"/>
          </p:cNvSpPr>
          <p:nvPr/>
        </p:nvSpPr>
        <p:spPr>
          <a:xfrm>
            <a:off x="9601200" y="-548640"/>
            <a:ext cx="2743200" cy="2743200"/>
          </a:xfrm>
          <a:prstGeom prst="rect">
            <a:avLst/>
          </a:prstGeom>
          <a:solidFill>
            <a:srgbClr val="3A20B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1" name="Eyebrow"/>
          <p:cNvSpPr txBox="1">
            <a:spLocks noGrp="1"/>
          </p:cNvSpPr>
          <p:nvPr/>
        </p:nvSpPr>
        <p:spPr>
          <a:xfrm>
            <a:off x="822960" y="137160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1300" b="0" i="0" dirty="0">
                <a:solidFill>
                  <a:srgbClr val="C4B4FF"/>
                </a:solidFill>
                <a:latin typeface="Inter"/>
              </a:rPr>
              <a:t>KEY INSIGHT</a:t>
            </a:r>
          </a:p>
        </p:txBody>
      </p:sp>
      <p:sp>
        <p:nvSpPr>
          <p:cNvPr id="92" name="InsightText"/>
          <p:cNvSpPr>
            <a:spLocks noGrp="1"/>
            <p:ph type="title" idx="0"/>
          </p:cNvSpPr>
          <p:nvPr/>
        </p:nvSpPr>
        <p:spPr>
          <a:xfrm>
            <a:off x="822960" y="1920240"/>
            <a:ext cx="9601200" cy="2286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5200" b="1" dirty="0">
                <a:solidFill>
                  <a:srgbClr val="FFFFFF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  <p:sp>
        <p:nvSpPr>
          <p:cNvPr id="1093" name="Rule"/>
          <p:cNvSpPr>
            <a:spLocks noGrp="1"/>
          </p:cNvSpPr>
          <p:nvPr/>
        </p:nvSpPr>
        <p:spPr>
          <a:xfrm>
            <a:off x="822960" y="4343400"/>
            <a:ext cx="1645920" cy="25400"/>
          </a:xfrm>
          <a:prstGeom prst="rect">
            <a:avLst/>
          </a:prstGeom>
          <a:solidFill>
            <a:srgbClr val="C4B4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4" name="Context"/>
          <p:cNvSpPr>
            <a:spLocks noGrp="1"/>
            <p:ph type="body" idx="1"/>
          </p:cNvSpPr>
          <p:nvPr/>
        </p:nvSpPr>
        <p:spPr>
          <a:xfrm>
            <a:off x="822960" y="45720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l">
              <a:defRPr sz="1600" b="0" dirty="0">
                <a:solidFill>
                  <a:srgbClr val="C4B4FF"/>
                </a:solidFill>
                <a:latin typeface="+mj-lt" pitchFamily="0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1 – Statistics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Eyebrow"/>
          <p:cNvSpPr txBox="1">
            <a:spLocks noGrp="1"/>
          </p:cNvSpPr>
          <p:nvPr/>
        </p:nvSpPr>
        <p:spPr>
          <a:xfrm>
            <a:off x="822960" y="45720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1300" b="0" i="0" dirty="0">
                <a:solidFill>
                  <a:srgbClr val="8884A0"/>
                </a:solidFill>
                <a:latin typeface="Inter"/>
              </a:rPr>
              <a:t>BY THE NUMBERS</a:t>
            </a:r>
          </a:p>
        </p:txBody>
      </p:sp>
      <p:sp>
        <p:nvSpPr>
          <p:cNvPr id="1101" name="AccentBar0"/>
          <p:cNvSpPr>
            <a:spLocks noGrp="1"/>
          </p:cNvSpPr>
          <p:nvPr/>
        </p:nvSpPr>
        <p:spPr>
          <a:xfrm>
            <a:off x="822960" y="1143000"/>
            <a:ext cx="3383280" cy="50800"/>
          </a:xfrm>
          <a:prstGeom prst="rect">
            <a:avLst/>
          </a:prstGeom>
          <a:solidFill>
            <a:srgbClr val="FF60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2" name="BigNum0"/>
          <p:cNvSpPr txBox="1">
            <a:spLocks noGrp="1"/>
          </p:cNvSpPr>
          <p:nvPr/>
        </p:nvSpPr>
        <p:spPr>
          <a:xfrm>
            <a:off x="822960" y="128016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8000" b="1" i="0" dirty="0">
                <a:solidFill>
                  <a:srgbClr val="1A162A"/>
                </a:solidFill>
                <a:latin typeface="Montserrat"/>
              </a:rPr>
              <a:t>00%</a:t>
            </a:r>
          </a:p>
        </p:txBody>
      </p:sp>
      <p:sp>
        <p:nvSpPr>
          <p:cNvPr id="1103" name="DivLine0"/>
          <p:cNvSpPr>
            <a:spLocks noGrp="1"/>
          </p:cNvSpPr>
          <p:nvPr/>
        </p:nvSpPr>
        <p:spPr>
          <a:xfrm>
            <a:off x="822960" y="3200400"/>
            <a:ext cx="3383280" cy="12700"/>
          </a:xfrm>
          <a:prstGeom prst="rect">
            <a:avLst/>
          </a:prstGeom>
          <a:solidFill>
            <a:srgbClr val="E3DB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4" name="StatDesc0"/>
          <p:cNvSpPr txBox="1">
            <a:spLocks noGrp="1"/>
          </p:cNvSpPr>
          <p:nvPr/>
        </p:nvSpPr>
        <p:spPr>
          <a:xfrm>
            <a:off x="822960" y="3337560"/>
            <a:ext cx="338328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1600" b="0" i="0" dirty="0">
                <a:solidFill>
                  <a:srgbClr val="1A162A"/>
                </a:solidFill>
                <a:latin typeface="Inter"/>
              </a:rPr>
              <a:t>Description of the statistic.</a:t>
            </a:r>
          </a:p>
        </p:txBody>
      </p:sp>
      <p:sp>
        <p:nvSpPr>
          <p:cNvPr id="1105" name="AccentBar1"/>
          <p:cNvSpPr>
            <a:spLocks noGrp="1"/>
          </p:cNvSpPr>
          <p:nvPr/>
        </p:nvSpPr>
        <p:spPr>
          <a:xfrm>
            <a:off x="4617720" y="1143000"/>
            <a:ext cx="3383280" cy="50800"/>
          </a:xfrm>
          <a:prstGeom prst="rect">
            <a:avLst/>
          </a:prstGeom>
          <a:solidFill>
            <a:srgbClr val="00D4B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6" name="BigNum1"/>
          <p:cNvSpPr txBox="1">
            <a:spLocks noGrp="1"/>
          </p:cNvSpPr>
          <p:nvPr/>
        </p:nvSpPr>
        <p:spPr>
          <a:xfrm>
            <a:off x="4617720" y="128016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8000" b="1" i="0" dirty="0">
                <a:solidFill>
                  <a:srgbClr val="1A162A"/>
                </a:solidFill>
                <a:latin typeface="Montserrat"/>
              </a:rPr>
              <a:t>00%</a:t>
            </a:r>
          </a:p>
        </p:txBody>
      </p:sp>
      <p:sp>
        <p:nvSpPr>
          <p:cNvPr id="1107" name="DivLine1"/>
          <p:cNvSpPr>
            <a:spLocks noGrp="1"/>
          </p:cNvSpPr>
          <p:nvPr/>
        </p:nvSpPr>
        <p:spPr>
          <a:xfrm>
            <a:off x="4617720" y="3200400"/>
            <a:ext cx="3383280" cy="12700"/>
          </a:xfrm>
          <a:prstGeom prst="rect">
            <a:avLst/>
          </a:prstGeom>
          <a:solidFill>
            <a:srgbClr val="E3DB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8" name="StatDesc1"/>
          <p:cNvSpPr txBox="1">
            <a:spLocks noGrp="1"/>
          </p:cNvSpPr>
          <p:nvPr/>
        </p:nvSpPr>
        <p:spPr>
          <a:xfrm>
            <a:off x="4617720" y="3337560"/>
            <a:ext cx="338328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1600" b="0" i="0" dirty="0">
                <a:solidFill>
                  <a:srgbClr val="1A162A"/>
                </a:solidFill>
                <a:latin typeface="Inter"/>
              </a:rPr>
              <a:t>Description of the statistic.</a:t>
            </a:r>
          </a:p>
        </p:txBody>
      </p:sp>
      <p:sp>
        <p:nvSpPr>
          <p:cNvPr id="1109" name="AccentBar2"/>
          <p:cNvSpPr>
            <a:spLocks noGrp="1"/>
          </p:cNvSpPr>
          <p:nvPr/>
        </p:nvSpPr>
        <p:spPr>
          <a:xfrm>
            <a:off x="8412480" y="1143000"/>
            <a:ext cx="3383280" cy="50800"/>
          </a:xfrm>
          <a:prstGeom prst="rect">
            <a:avLst/>
          </a:prstGeom>
          <a:solidFill>
            <a:srgbClr val="3880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0" name="BigNum2"/>
          <p:cNvSpPr txBox="1">
            <a:spLocks noGrp="1"/>
          </p:cNvSpPr>
          <p:nvPr/>
        </p:nvSpPr>
        <p:spPr>
          <a:xfrm>
            <a:off x="8412480" y="128016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8000" b="1" i="0" dirty="0">
                <a:solidFill>
                  <a:srgbClr val="1A162A"/>
                </a:solidFill>
                <a:latin typeface="Montserrat"/>
              </a:rPr>
              <a:t>00%</a:t>
            </a:r>
          </a:p>
        </p:txBody>
      </p:sp>
      <p:sp>
        <p:nvSpPr>
          <p:cNvPr id="1111" name="DivLine2"/>
          <p:cNvSpPr>
            <a:spLocks noGrp="1"/>
          </p:cNvSpPr>
          <p:nvPr/>
        </p:nvSpPr>
        <p:spPr>
          <a:xfrm>
            <a:off x="8412480" y="3200400"/>
            <a:ext cx="3383280" cy="12700"/>
          </a:xfrm>
          <a:prstGeom prst="rect">
            <a:avLst/>
          </a:prstGeom>
          <a:solidFill>
            <a:srgbClr val="E3DB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2" name="StatDesc2"/>
          <p:cNvSpPr txBox="1">
            <a:spLocks noGrp="1"/>
          </p:cNvSpPr>
          <p:nvPr/>
        </p:nvSpPr>
        <p:spPr>
          <a:xfrm>
            <a:off x="8412480" y="3337560"/>
            <a:ext cx="338328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1600" b="0" i="0" dirty="0">
                <a:solidFill>
                  <a:srgbClr val="1A162A"/>
                </a:solidFill>
                <a:latin typeface="Inter"/>
              </a:rPr>
              <a:t>Description of the statistic.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0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AccentBar"/>
          <p:cNvSpPr>
            <a:spLocks noGrp="1"/>
          </p:cNvSpPr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834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2" name="Wordmark"/>
          <p:cNvSpPr txBox="1">
            <a:spLocks noGrp="1"/>
          </p:cNvSpPr>
          <p:nvPr/>
        </p:nvSpPr>
        <p:spPr>
          <a:xfrm>
            <a:off x="10332720" y="647395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lang="en-US" sz="1300" b="1" i="0" dirty="0">
                <a:solidFill>
                  <a:srgbClr val="5834E8"/>
                </a:solidFill>
                <a:latin typeface="Montserrat"/>
              </a:rPr>
              <a:t>frontify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Frontify">
  <a:themeElements>
    <a:clrScheme name="Frontify">
      <a:dk1>
        <a:srgbClr val="100E1D"/>
      </a:dk1>
      <a:lt1>
        <a:srgbClr val="F2EDE0"/>
      </a:lt1>
      <a:dk2>
        <a:srgbClr val="1A162A"/>
      </a:dk2>
      <a:lt2>
        <a:srgbClr val="FFFFFF"/>
      </a:lt2>
      <a:accent1>
        <a:srgbClr val="5834E8"/>
      </a:accent1>
      <a:accent2>
        <a:srgbClr val="FF6038"/>
      </a:accent2>
      <a:accent3>
        <a:srgbClr val="00D4B0"/>
      </a:accent3>
      <a:accent4>
        <a:srgbClr val="3880FF"/>
      </a:accent4>
      <a:accent5>
        <a:srgbClr val="30D158"/>
      </a:accent5>
      <a:accent6>
        <a:srgbClr val="FF375F"/>
      </a:accent6>
      <a:hlink>
        <a:srgbClr val="5834E8"/>
      </a:hlink>
      <a:folHlink>
        <a:srgbClr val="3A20B0"/>
      </a:folHlink>
    </a:clrScheme>
    <a:fontScheme name="Frontify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
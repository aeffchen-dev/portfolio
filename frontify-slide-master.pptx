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83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91295" y="0"/>
            <a:ext cx="3200400" cy="2560320"/>
          </a:xfrm>
          <a:prstGeom prst="rect">
            <a:avLst/>
          </a:prstGeom>
          <a:solidFill>
            <a:srgbClr val="2A1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8686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FFFFFF"/>
                </a:solidFill>
                <a:latin typeface="Montserrat"/>
              </a:rPr>
              <a:t>REBRANDING
REDEFINED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206240"/>
            <a:ext cx="2194560" cy="38100"/>
          </a:xfrm>
          <a:prstGeom prst="rect">
            <a:avLst/>
          </a:prstGeom>
          <a:solidFill>
            <a:srgbClr val="583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8C4D8"/>
                </a:solidFill>
                <a:latin typeface="Inter"/>
              </a:rPr>
              <a:t>Six elements of modern brand craft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4A0"/>
                </a:solidFill>
                <a:latin typeface="Inter"/>
              </a:rPr>
              <a:t>A Frontify Guide  · 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34E8"/>
                </a:solidFill>
                <a:latin typeface="Montserrat"/>
              </a:rPr>
              <a:t>frontify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295" y="6510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4A0"/>
                </a:solidFill>
                <a:latin typeface="Inter"/>
              </a:rPr>
              <a:t>SLIDE 01 — 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162A"/>
                </a:solidFill>
                <a:latin typeface="Montserrat"/>
              </a:rPr>
              <a:t>Six elements of
modern brand craft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463040" cy="38100"/>
          </a:xfrm>
          <a:prstGeom prst="rect">
            <a:avLst/>
          </a:prstGeom>
          <a:solidFill>
            <a:srgbClr val="583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502920" cy="502920"/>
          </a:xfrm>
          <a:prstGeom prst="rect">
            <a:avLst/>
          </a:prstGeom>
          <a:solidFill>
            <a:srgbClr val="583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238658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2331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62A"/>
                </a:solidFill>
                <a:latin typeface="Montserrat"/>
              </a:rPr>
              <a:t>Typography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7157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4A0"/>
                </a:solidFill>
                <a:latin typeface="Inter"/>
              </a:rPr>
              <a:t>How letterforms shape brand voice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331720"/>
            <a:ext cx="502920" cy="502920"/>
          </a:xfrm>
          <a:prstGeom prst="rect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2784" y="238658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2331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62A"/>
                </a:solidFill>
                <a:latin typeface="Montserrat"/>
              </a:rPr>
              <a:t>Color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27157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4A0"/>
                </a:solidFill>
                <a:latin typeface="Inter"/>
              </a:rPr>
              <a:t>The psychology and strategy of hue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794760"/>
            <a:ext cx="502920" cy="502920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84962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794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62A"/>
                </a:solidFill>
                <a:latin typeface="Montserrat"/>
              </a:rPr>
              <a:t>Sound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1788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4A0"/>
                </a:solidFill>
                <a:latin typeface="Inter"/>
              </a:rPr>
              <a:t>Sonic identity in a multi-modal world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794760"/>
            <a:ext cx="502920" cy="502920"/>
          </a:xfrm>
          <a:prstGeom prst="rect">
            <a:avLst/>
          </a:prstGeom>
          <a:solidFill>
            <a:srgbClr val="38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384962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3794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62A"/>
                </a:solidFill>
                <a:latin typeface="Montserrat"/>
              </a:rPr>
              <a:t>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41788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4A0"/>
                </a:solidFill>
                <a:latin typeface="Inter"/>
              </a:rPr>
              <a:t>Animation as brand expression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257800"/>
            <a:ext cx="502920" cy="50292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531266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5257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62A"/>
                </a:solidFill>
                <a:latin typeface="Montserrat"/>
              </a:rPr>
              <a:t>Flexibility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56418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4A0"/>
                </a:solidFill>
                <a:latin typeface="Inter"/>
              </a:rPr>
              <a:t>Systems that adapt without losing identity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5257800"/>
            <a:ext cx="502920" cy="502920"/>
          </a:xfrm>
          <a:prstGeom prst="rect">
            <a:avLst/>
          </a:prstGeom>
          <a:solidFill>
            <a:srgbClr val="FF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4" y="531266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5257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62A"/>
                </a:solidFill>
                <a:latin typeface="Montserrat"/>
              </a:rPr>
              <a:t>Cultural Relevance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56418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4A0"/>
                </a:solidFill>
                <a:latin typeface="Inter"/>
              </a:rPr>
              <a:t>Brands that move with culture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895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34E8"/>
                </a:solidFill>
                <a:latin typeface="Montserrat"/>
              </a:rPr>
              <a:t>frontify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5295" y="6510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4A0"/>
                </a:solidFill>
                <a:latin typeface="Inter"/>
              </a:rPr>
              <a:t>SLIDE 02 — TABLE OF 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583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3657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805CFF"/>
                </a:solidFill>
                <a:latin typeface="Montserrat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1280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834E8"/>
                </a:solidFill>
                <a:latin typeface="Inter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7830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ontserrat"/>
              </a:rPr>
              <a:t>Typography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3703320"/>
            <a:ext cx="1828800" cy="25400"/>
          </a:xfrm>
          <a:prstGeom prst="rect">
            <a:avLst/>
          </a:prstGeom>
          <a:solidFill>
            <a:srgbClr val="583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393192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C4D8"/>
                </a:solidFill>
                <a:latin typeface="Inter"/>
              </a:rPr>
              <a:t>How letterforms shape brand voice and personality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34E8"/>
                </a:solidFill>
                <a:latin typeface="Montserrat"/>
              </a:rPr>
              <a:t>frontify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295" y="6510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4A0"/>
                </a:solidFill>
                <a:latin typeface="Inter"/>
              </a:rPr>
              <a:t>SLIDE 03 — CHAPTER 01 DIVIDER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3657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FF8860"/>
                </a:solidFill>
                <a:latin typeface="Montserrat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1280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038"/>
                </a:solidFill>
                <a:latin typeface="Inter"/>
              </a:rPr>
              <a:t>CHAPTER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7830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ontserrat"/>
              </a:rPr>
              <a:t>Color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3703320"/>
            <a:ext cx="1828800" cy="25400"/>
          </a:xfrm>
          <a:prstGeom prst="rect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393192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C4D8"/>
                </a:solidFill>
                <a:latin typeface="Inter"/>
              </a:rPr>
              <a:t>The psychology and strategy of hue in modern branding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038"/>
                </a:solidFill>
                <a:latin typeface="Montserrat"/>
              </a:rPr>
              <a:t>frontify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295" y="6510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4A0"/>
                </a:solidFill>
                <a:latin typeface="Inter"/>
              </a:rPr>
              <a:t>SLIDE 04 — CHAPTER 02 DIVIDER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3657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28FCD8"/>
                </a:solidFill>
                <a:latin typeface="Montserrat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1280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B0"/>
                </a:solidFill>
                <a:latin typeface="Inter"/>
              </a:rPr>
              <a:t>CHAPTER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7830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ontserrat"/>
              </a:rPr>
              <a:t>Sound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3703320"/>
            <a:ext cx="1828800" cy="25400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393192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C4D8"/>
                </a:solidFill>
                <a:latin typeface="Inter"/>
              </a:rPr>
              <a:t>Sonic identity in a multi-modal, always-on world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B0"/>
                </a:solidFill>
                <a:latin typeface="Montserrat"/>
              </a:rPr>
              <a:t>frontify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295" y="6510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4A0"/>
                </a:solidFill>
                <a:latin typeface="Inter"/>
              </a:rPr>
              <a:t>SLIDE 05 — CHAPTER 03 DIVIDER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38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3657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60A8FF"/>
                </a:solidFill>
                <a:latin typeface="Montserrat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1280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80FF"/>
                </a:solidFill>
                <a:latin typeface="Inter"/>
              </a:rPr>
              <a:t>CHAPTER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7830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ontserrat"/>
              </a:rPr>
              <a:t>Motion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3703320"/>
            <a:ext cx="1828800" cy="25400"/>
          </a:xfrm>
          <a:prstGeom prst="rect">
            <a:avLst/>
          </a:prstGeom>
          <a:solidFill>
            <a:srgbClr val="38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393192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C4D8"/>
                </a:solidFill>
                <a:latin typeface="Inter"/>
              </a:rPr>
              <a:t>Animation as a living expression of brand character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80FF"/>
                </a:solidFill>
                <a:latin typeface="Montserrat"/>
              </a:rPr>
              <a:t>frontify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295" y="6510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4A0"/>
                </a:solidFill>
                <a:latin typeface="Inter"/>
              </a:rPr>
              <a:t>SLIDE 06 — CHAPTER 04 DIVIDER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3657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58F980"/>
                </a:solidFill>
                <a:latin typeface="Montserrat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1280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0D158"/>
                </a:solidFill>
                <a:latin typeface="Inter"/>
              </a:rPr>
              <a:t>CHAPTER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7830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ontserrat"/>
              </a:rPr>
              <a:t>Flexibility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3703320"/>
            <a:ext cx="1828800" cy="254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393192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C4D8"/>
                </a:solidFill>
                <a:latin typeface="Inter"/>
              </a:rPr>
              <a:t>Systems that adapt fluidly without losing their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0D158"/>
                </a:solidFill>
                <a:latin typeface="Montserrat"/>
              </a:rPr>
              <a:t>frontify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295" y="6510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4A0"/>
                </a:solidFill>
                <a:latin typeface="Inter"/>
              </a:rPr>
              <a:t>SLIDE 07 — CHAPTER 05 DIVIDER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FF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3657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FF5F87"/>
                </a:solidFill>
                <a:latin typeface="Montserrat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1280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375F"/>
                </a:solidFill>
                <a:latin typeface="Inter"/>
              </a:rPr>
              <a:t>CHAPTER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7830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ontserrat"/>
              </a:rPr>
              <a:t>Cultural Relevance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3703320"/>
            <a:ext cx="1828800" cy="25400"/>
          </a:xfrm>
          <a:prstGeom prst="rect">
            <a:avLst/>
          </a:prstGeom>
          <a:solidFill>
            <a:srgbClr val="FF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393192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C4D8"/>
                </a:solidFill>
                <a:latin typeface="Inter"/>
              </a:rPr>
              <a:t>Brands that move with culture — and sometimes define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375F"/>
                </a:solidFill>
                <a:latin typeface="Montserrat"/>
              </a:rPr>
              <a:t>frontify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295" y="6510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4A0"/>
                </a:solidFill>
                <a:latin typeface="Inter"/>
              </a:rPr>
              <a:t>SLIDE 08 — CHAPTER 06 DIVIDER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162A"/>
                </a:solidFill>
                <a:latin typeface="Montserrat"/>
              </a:rPr>
              <a:t>Section Headline
Goes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280160" cy="25400"/>
          </a:xfrm>
          <a:prstGeom prst="rect">
            <a:avLst/>
          </a:prstGeom>
          <a:solidFill>
            <a:srgbClr val="583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62A"/>
                </a:solidFill>
                <a:latin typeface="Inter"/>
              </a:rPr>
              <a:t>Body copy occupies this space. Replace with your key insight, supporting data point, or narrative paragraph. Aim for 3–5 lines for comfortable readability at this size.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348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4A0"/>
                </a:solidFill>
                <a:latin typeface="Inter"/>
              </a:rPr>
              <a:t>Supporting detail or citation can go here in a smaller size.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0"/>
            <a:ext cx="5699455" cy="6858000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3154680"/>
            <a:ext cx="56994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8884A0"/>
                </a:solidFill>
                <a:latin typeface="Inter"/>
              </a:rPr>
              <a:t>[IMAGE PLACEHOLDER]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34E8"/>
                </a:solidFill>
                <a:latin typeface="Montserrat"/>
              </a:rPr>
              <a:t>frontify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295" y="6510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4A0"/>
                </a:solidFill>
                <a:latin typeface="Inter"/>
              </a:rPr>
              <a:t>SLIDE 09 — CONTENT + IMAGE (right)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22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1546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8884A0"/>
                </a:solidFill>
                <a:latin typeface="Inter"/>
              </a:rPr>
              <a:t>[IMAGE PLACEHOLDER]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00584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ontserrat"/>
              </a:rPr>
              <a:t>Section Headline
Goes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2788920"/>
            <a:ext cx="1280160" cy="25400"/>
          </a:xfrm>
          <a:prstGeom prst="rect">
            <a:avLst/>
          </a:prstGeom>
          <a:solidFill>
            <a:srgbClr val="583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0" y="29260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4D8"/>
                </a:solidFill>
                <a:latin typeface="Inter"/>
              </a:rPr>
              <a:t>Body copy occupies this space. Replace with your key insight, supporting data point, or narrative paragraph.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44348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4A0"/>
                </a:solidFill>
                <a:latin typeface="Inter"/>
              </a:rPr>
              <a:t>Supporting detail or attribution.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34E8"/>
                </a:solidFill>
                <a:latin typeface="Montserrat"/>
              </a:rPr>
              <a:t>frontify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295" y="6510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4A0"/>
                </a:solidFill>
                <a:latin typeface="Inter"/>
              </a:rPr>
              <a:t>SLIDE 10 — CONTENT + IMAGE (left)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5834E8"/>
                </a:solidFill>
                <a:latin typeface="Montserrat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Montserrat"/>
              </a:rPr>
              <a:t>Branding isn't about perfecting
static assets. It's about building
living systems.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617720"/>
            <a:ext cx="731520" cy="25400"/>
          </a:xfrm>
          <a:prstGeom prst="rect">
            <a:avLst/>
          </a:prstGeom>
          <a:solidFill>
            <a:srgbClr val="583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4A0"/>
                </a:solidFill>
                <a:latin typeface="Inter"/>
              </a:rPr>
              <a:t>Expert Name  ·  Role, Organisation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34E8"/>
                </a:solidFill>
                <a:latin typeface="Montserrat"/>
              </a:rPr>
              <a:t>frontify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295" y="6510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4A0"/>
                </a:solidFill>
                <a:latin typeface="Inter"/>
              </a:rPr>
              <a:t>SLIDE 11 — PULL QUOTE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4A0"/>
                </a:solidFill>
                <a:latin typeface="Inter"/>
              </a:rPr>
              <a:t>BY THE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3657600" cy="50800"/>
          </a:xfrm>
          <a:prstGeom prst="rect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1A162A"/>
                </a:solidFill>
                <a:latin typeface="Montserrat"/>
              </a:rPr>
              <a:t>78%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246120"/>
            <a:ext cx="3657600" cy="12700"/>
          </a:xfrm>
          <a:prstGeom prst="rect">
            <a:avLst/>
          </a:prstGeom>
          <a:solidFill>
            <a:srgbClr val="E3D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62A"/>
                </a:solidFill>
                <a:latin typeface="Inter"/>
              </a:rPr>
              <a:t>of brand teams plan a rebrand within the next 3 years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0" y="1143000"/>
            <a:ext cx="3657600" cy="50800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28016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1A162A"/>
                </a:solidFill>
                <a:latin typeface="Montserrat"/>
              </a:rPr>
              <a:t>3.2×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3246120"/>
            <a:ext cx="3657600" cy="12700"/>
          </a:xfrm>
          <a:prstGeom prst="rect">
            <a:avLst/>
          </a:prstGeom>
          <a:solidFill>
            <a:srgbClr val="E3D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338328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62A"/>
                </a:solidFill>
                <a:latin typeface="Inter"/>
              </a:rPr>
              <a:t>more brand recall with consistent motion identity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1143000"/>
            <a:ext cx="3657600" cy="50800"/>
          </a:xfrm>
          <a:prstGeom prst="rect">
            <a:avLst/>
          </a:prstGeom>
          <a:solidFill>
            <a:srgbClr val="38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28016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1A162A"/>
                </a:solidFill>
                <a:latin typeface="Montserrat"/>
              </a:rPr>
              <a:t>60+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3246120"/>
            <a:ext cx="3657600" cy="12700"/>
          </a:xfrm>
          <a:prstGeom prst="rect">
            <a:avLst/>
          </a:prstGeom>
          <a:solidFill>
            <a:srgbClr val="E3D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8328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62A"/>
                </a:solidFill>
                <a:latin typeface="Inter"/>
              </a:rPr>
              <a:t>touchpoints where sonic branding now plays a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34E8"/>
                </a:solidFill>
                <a:latin typeface="Montserrat"/>
              </a:rPr>
              <a:t>frontify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295" y="6510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4A0"/>
                </a:solidFill>
                <a:latin typeface="Inter"/>
              </a:rPr>
              <a:t>SLIDE 12 — STATISTICS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ontserrat"/>
              </a:rPr>
              <a:t>Headline Spanning Full Width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515600" cy="12700"/>
          </a:xfrm>
          <a:prstGeom prst="rect">
            <a:avLst/>
          </a:prstGeom>
          <a:solidFill>
            <a:srgbClr val="38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34E8"/>
                </a:solidFill>
                <a:latin typeface="Montserrat"/>
              </a:rPr>
              <a:t>Left Column Heading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4D8"/>
                </a:solidFill>
                <a:latin typeface="Inter"/>
              </a:rPr>
              <a:t>Left column body copy. Use this for one concept, comparison point, or argument. Keep each column to one clear idea for maximum impact in the room.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526280"/>
            <a:ext cx="91440" cy="91440"/>
          </a:xfrm>
          <a:prstGeom prst="rect">
            <a:avLst/>
          </a:prstGeom>
          <a:solidFill>
            <a:srgbClr val="583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46227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4D8"/>
                </a:solidFill>
                <a:latin typeface="Inter"/>
              </a:rPr>
              <a:t>Key point 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001768"/>
            <a:ext cx="91440" cy="91440"/>
          </a:xfrm>
          <a:prstGeom prst="rect">
            <a:avLst/>
          </a:prstGeom>
          <a:solidFill>
            <a:srgbClr val="583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937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4D8"/>
                </a:solidFill>
                <a:latin typeface="Inter"/>
              </a:rPr>
              <a:t>Key point two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477256"/>
            <a:ext cx="91440" cy="91440"/>
          </a:xfrm>
          <a:prstGeom prst="rect">
            <a:avLst/>
          </a:prstGeom>
          <a:solidFill>
            <a:srgbClr val="583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4132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4D8"/>
                </a:solidFill>
                <a:latin typeface="Inter"/>
              </a:rPr>
              <a:t>Key point three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B0"/>
                </a:solidFill>
                <a:latin typeface="Montserrat"/>
              </a:rPr>
              <a:t>Right Column Heading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4D8"/>
                </a:solidFill>
                <a:latin typeface="Inter"/>
              </a:rPr>
              <a:t>Right column body copy. Mirrors the structure of the left column. Works well for before/after, pros/cons, or two distinct brand frameworks.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4526280"/>
            <a:ext cx="91440" cy="91440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446227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4D8"/>
                </a:solidFill>
                <a:latin typeface="Inter"/>
              </a:rPr>
              <a:t>Key point alpha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5001768"/>
            <a:ext cx="91440" cy="91440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4937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4D8"/>
                </a:solidFill>
                <a:latin typeface="Inter"/>
              </a:rPr>
              <a:t>Key point beta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5477256"/>
            <a:ext cx="91440" cy="91440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54132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4D8"/>
                </a:solidFill>
                <a:latin typeface="Inter"/>
              </a:rPr>
              <a:t>Key point gamma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2895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34E8"/>
                </a:solidFill>
                <a:latin typeface="Montserrat"/>
              </a:rPr>
              <a:t>frontify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295" y="6510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4A0"/>
                </a:solidFill>
                <a:latin typeface="Inter"/>
              </a:rPr>
              <a:t>SLIDE 13 — TWO COLUMNS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15468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8884A0"/>
                </a:solidFill>
                <a:latin typeface="Inter"/>
              </a:rPr>
              <a:t>[FULL-BLEED IMAGE PLACEHOLDER]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08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Montserrat"/>
              </a:rPr>
              <a:t>Image Caption or
Key Statement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4A0"/>
                </a:solidFill>
                <a:latin typeface="Inter"/>
              </a:rPr>
              <a:t>Supporting line or image credit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ontserrat"/>
              </a:rPr>
              <a:t>frontify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295" y="6510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4A0"/>
                </a:solidFill>
                <a:latin typeface="Inter"/>
              </a:rPr>
              <a:t>SLIDE 14 — FULL-BLEED IMAGE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3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31375" y="-548640"/>
            <a:ext cx="2743200" cy="2743200"/>
          </a:xfrm>
          <a:prstGeom prst="rect">
            <a:avLst/>
          </a:prstGeom>
          <a:solidFill>
            <a:srgbClr val="3A2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B4FF"/>
                </a:solidFill>
                <a:latin typeface="Inter"/>
              </a:rPr>
              <a:t>KEY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9601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Montserrat"/>
              </a:rPr>
              <a:t>A successful rebrand is not a
moment — it is a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251960"/>
            <a:ext cx="1645920" cy="25400"/>
          </a:xfrm>
          <a:prstGeom prst="rect">
            <a:avLst/>
          </a:prstGeom>
          <a:solidFill>
            <a:srgbClr val="C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4B4FF"/>
                </a:solidFill>
                <a:latin typeface="Inter"/>
              </a:rPr>
              <a:t>Chapter synthesis · Applies across all six brand elements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ontserrat"/>
              </a:rPr>
              <a:t>frontify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295" y="6510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4A0"/>
                </a:solidFill>
                <a:latin typeface="Inter"/>
              </a:rPr>
              <a:t>SLIDE 15 — KEY INSIGHT CALLOUT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4A0"/>
                </a:solidFill>
                <a:latin typeface="Inter"/>
              </a:rPr>
              <a:t>CHAPTER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1A162A"/>
                </a:solidFill>
                <a:latin typeface="Montserrat"/>
              </a:rPr>
              <a:t>Typography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10515600" cy="12700"/>
          </a:xfrm>
          <a:prstGeom prst="rect">
            <a:avLst/>
          </a:prstGeom>
          <a:solidFill>
            <a:srgbClr val="E3D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34E8"/>
                </a:solidFill>
                <a:latin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162A"/>
                </a:solidFill>
                <a:latin typeface="Montserrat"/>
              </a:rPr>
              <a:t>Typefaces encode meaning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5670"/>
                </a:solidFill>
                <a:latin typeface="Inter"/>
              </a:rPr>
              <a:t>Every letterform carries cultural weight. Choose with intention.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99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34E8"/>
                </a:solidFill>
                <a:latin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9" y="2834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162A"/>
                </a:solidFill>
                <a:latin typeface="Montserrat"/>
              </a:rPr>
              <a:t>Variable fonts unlock flexibility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356616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5670"/>
                </a:solidFill>
                <a:latin typeface="Inter"/>
              </a:rPr>
              <a:t>A single typeface can span every context when built on a variable axis.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38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34E8"/>
                </a:solidFill>
                <a:latin typeface="Montserra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8" y="2834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162A"/>
                </a:solidFill>
                <a:latin typeface="Montserrat"/>
              </a:rPr>
              <a:t>Consistency builds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8" y="356616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5670"/>
                </a:solidFill>
                <a:latin typeface="Inter"/>
              </a:rPr>
              <a:t>Typographic discipline applied across touchpoints deepens brand recognition.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34E8"/>
                </a:solidFill>
                <a:latin typeface="Montserrat"/>
              </a:rPr>
              <a:t>frontify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295" y="6510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4A0"/>
                </a:solidFill>
                <a:latin typeface="Inter"/>
              </a:rPr>
              <a:t>SLIDE 16 — CHAPTER SUMMARY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83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Montserrat"/>
              </a:rPr>
              <a:t>Build brands
that last.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2011680" cy="38100"/>
          </a:xfrm>
          <a:prstGeom prst="rect">
            <a:avLst/>
          </a:prstGeom>
          <a:solidFill>
            <a:srgbClr val="583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8C4D8"/>
                </a:solidFill>
                <a:latin typeface="Inter"/>
              </a:rPr>
              <a:t>Explore the full Frontify platform at frontify.com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34E8"/>
                </a:solidFill>
                <a:latin typeface="Montserrat"/>
              </a:rPr>
              <a:t>frontify.com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34E8"/>
                </a:solidFill>
                <a:latin typeface="Montserrat"/>
              </a:rPr>
              <a:t>frontify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295" y="6510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4A0"/>
                </a:solidFill>
                <a:latin typeface="Inter"/>
              </a:rPr>
              <a:t>SLIDE 17 — CLOSING CTA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62A"/>
                </a:solidFill>
                <a:latin typeface="Montserrat"/>
              </a:rPr>
              <a:t>Slide Heading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0515600" cy="12700"/>
          </a:xfrm>
          <a:prstGeom prst="rect">
            <a:avLst/>
          </a:prstGeom>
          <a:solidFill>
            <a:srgbClr val="E3D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884A0"/>
                </a:solidFill>
                <a:latin typeface="Inter"/>
              </a:rPr>
              <a:t>Content area — add text, images, or charts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34E8"/>
                </a:solidFill>
                <a:latin typeface="Montserrat"/>
              </a:rPr>
              <a:t>frontify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295" y="6510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4A0"/>
                </a:solidFill>
                <a:latin typeface="Inter"/>
              </a:rPr>
              <a:t>SLIDE 18 — GENERIC (light)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ontserrat"/>
              </a:rPr>
              <a:t>Slide Heading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0515600" cy="12700"/>
          </a:xfrm>
          <a:prstGeom prst="rect">
            <a:avLst/>
          </a:prstGeom>
          <a:solidFill>
            <a:srgbClr val="38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884A0"/>
                </a:solidFill>
                <a:latin typeface="Inter"/>
              </a:rPr>
              <a:t>Content area — add text, images, or charts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34E8"/>
                </a:solidFill>
                <a:latin typeface="Montserrat"/>
              </a:rPr>
              <a:t>frontify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295" y="6510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4A0"/>
                </a:solidFill>
                <a:latin typeface="Inter"/>
              </a:rPr>
              <a:t>SLIDE 19 — GENERIC (dark)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
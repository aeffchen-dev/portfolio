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E66FA"/>
                </a:solidFill>
              </a:rPr>
              <a:t>Jana Gramlich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Agentic Design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999A4"/>
                </a:solidFill>
              </a:rPr>
              <a:t>Design infrastructure that thinks, acts,
and continuously improves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7315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371600" cy="381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680" y="5321808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5303520"/>
            <a:ext cx="1371600" cy="381000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0440" y="5321808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Design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5303520"/>
            <a:ext cx="1371600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9200" y="5321808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0" y="2651760"/>
            <a:ext cx="1645920" cy="1645920"/>
          </a:xfrm>
          <a:prstGeom prst="ellipse">
            <a:avLst/>
          </a:prstGeom>
          <a:solidFill>
            <a:srgbClr val="2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0" y="2926080"/>
            <a:ext cx="1097280" cy="1097280"/>
          </a:xfrm>
          <a:prstGeom prst="ellipse">
            <a:avLst/>
          </a:prstGeom>
          <a:solidFill>
            <a:srgbClr val="4A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40" y="32004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3200400"/>
            <a:ext cx="54864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What is Agentic Design?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 design system that doesn't
wait to be told what to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5303520" cy="2926080"/>
          </a:xfrm>
          <a:prstGeom prst="rect">
            <a:avLst/>
          </a:prstGeom>
          <a:solidFill>
            <a:srgbClr val="26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5303520" cy="63500"/>
          </a:xfrm>
          <a:prstGeom prst="rect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7880" y="3677920"/>
            <a:ext cx="53035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665C"/>
                </a:solidFill>
              </a:rPr>
              <a:t>Traditional Design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880" y="41351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A4"/>
                </a:solidFill>
              </a:rPr>
              <a:t>✕  Published quarterly — drifts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880" y="46177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A4"/>
                </a:solidFill>
              </a:rPr>
              <a:t>✕  Docs written once, outdated by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80" y="51003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A4"/>
                </a:solidFill>
              </a:rPr>
              <a:t>✕  Humans catch (or miss) every inconsistency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880" y="55829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A4"/>
                </a:solidFill>
              </a:rPr>
              <a:t>✕  Static components, manual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0A2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5720" y="3677920"/>
            <a:ext cx="53035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Agentic Design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5720" y="41351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1D9"/>
                </a:solidFill>
              </a:rPr>
              <a:t>✓  Continuously monitored, self-correcting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5720" y="46177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1D9"/>
                </a:solidFill>
              </a:rPr>
              <a:t>✓  Documentation generated from live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5720" y="51003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1D9"/>
                </a:solidFill>
              </a:rPr>
              <a:t>✓  Agents catch inconsistencies at commit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5720" y="5582920"/>
            <a:ext cx="494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1D9"/>
                </a:solidFill>
              </a:rPr>
              <a:t>✓  Dynamic variants generated on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E66FA"/>
                </a:solidFill>
              </a:rPr>
              <a:t>Automation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 agents can do for your design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7080" y="2255520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Drift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80" y="2585720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Nightly diff between Figma specs and component code. Auto-raises a PR when tokens or spacing drift.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7872" y="2103120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210312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4872" y="2255520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♿  A11y Guardian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4872" y="2585720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Scans every new component for contrast, touch target size, and missing ARIA roles before merge.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2103120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55664" y="2103120"/>
            <a:ext cx="2743200" cy="50800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2664" y="2255520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🎨  Token Propagation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664" y="2585720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One semantic token update cascades through all themes, platforms, and 200+ components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3456" y="2103120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456" y="2103120"/>
            <a:ext cx="2743200" cy="50800"/>
          </a:xfrm>
          <a:prstGeom prst="rect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0456" y="2255520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📖  Living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0456" y="2585720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Generates and refreshes Storybook stories and Figma annotations from actual usage.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85032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685032"/>
            <a:ext cx="2743200" cy="50800"/>
          </a:xfrm>
          <a:prstGeom prst="rect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080" y="3837432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🧩  Variant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080" y="4167632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Feed a base component + brand tokens. Agent outputs the full variant set, including edge cases.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7872" y="3685032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47872" y="3685032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4872" y="3837432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 Natural Language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4872" y="4167632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Ask: 'Which buttons don't use primary-action token?' Get an exhaustive answer instantly.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3685032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55664" y="3685032"/>
            <a:ext cx="2743200" cy="50800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2664" y="3837432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 Changelog Writer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2664" y="4167632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Reads every component commit and writes a human-friendly changelog entry, correctly categorised.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63456" y="3685032"/>
            <a:ext cx="2743200" cy="1417320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63456" y="3685032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0456" y="3837432"/>
            <a:ext cx="248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🔗  Code Connect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0456" y="4167632"/>
            <a:ext cx="248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4"/>
                </a:solidFill>
              </a:rPr>
              <a:t>Keeps Figma component ↔ code mappings up to date as the codebase evolves.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BF29"/>
                </a:solidFill>
              </a:rPr>
              <a:t>How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Five steps from zero to agentic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908792" cy="749808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63500" cy="749300"/>
          </a:xfrm>
          <a:prstGeom prst="rect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63500" cy="749808"/>
          </a:xfrm>
          <a:prstGeom prst="rect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7080" y="2118360"/>
            <a:ext cx="457200" cy="457200"/>
          </a:xfrm>
          <a:prstGeom prst="ellipse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080" y="2143760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0E11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8580" y="2092960"/>
            <a:ext cx="25603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Audit your token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0340" y="2092960"/>
            <a:ext cx="7772400" cy="49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4"/>
                </a:solidFill>
              </a:rPr>
              <a:t>Agents need structured, semantic tokens to read intent. If your tokens are a mess, clean them first. This is the foundation everything else builds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749808"/>
          </a:xfrm>
          <a:prstGeom prst="rect">
            <a:avLst/>
          </a:prstGeom>
          <a:solidFill>
            <a:srgbClr val="17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63500" cy="749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07208"/>
            <a:ext cx="6350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7080" y="29596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080" y="2985008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0E11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8580" y="2934208"/>
            <a:ext cx="25603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Connect Figma to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0340" y="2934208"/>
            <a:ext cx="7772400" cy="49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4"/>
                </a:solidFill>
              </a:rPr>
              <a:t>Set up Code Connect so agents can see the canonical relationship between Figma components and their code implementations. Without this, agents are blind.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908792" cy="749808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48456"/>
            <a:ext cx="63500" cy="749300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63500" cy="749808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7080" y="3800856"/>
            <a:ext cx="457200" cy="457200"/>
          </a:xfrm>
          <a:prstGeom prst="ellipse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080" y="3826256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0E11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8580" y="3775456"/>
            <a:ext cx="25603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Deploy a drift-detection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0340" y="3775456"/>
            <a:ext cx="7772400" cy="49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4"/>
                </a:solidFill>
              </a:rPr>
              <a:t>Your first agent should have one verifiable job: compare Figma specs to code on every PR and comment when they diverge. Prove value fast.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89704"/>
            <a:ext cx="10908792" cy="749808"/>
          </a:xfrm>
          <a:prstGeom prst="rect">
            <a:avLst/>
          </a:prstGeom>
          <a:solidFill>
            <a:srgbClr val="17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489704"/>
            <a:ext cx="63500" cy="749300"/>
          </a:xfrm>
          <a:prstGeom prst="rect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489704"/>
            <a:ext cx="63500" cy="749808"/>
          </a:xfrm>
          <a:prstGeom prst="rect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7080" y="4642104"/>
            <a:ext cx="457200" cy="457200"/>
          </a:xfrm>
          <a:prstGeom prst="ellipse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080" y="4667504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0E11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8580" y="4616704"/>
            <a:ext cx="25603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 human-in-the-loop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0340" y="4616704"/>
            <a:ext cx="7772400" cy="49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4"/>
                </a:solidFill>
              </a:rPr>
              <a:t>Agents propose — humans approve. Build Slack/GitHub approval flows before letting agents auto-merge. Trust is earned incrementally.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30952"/>
            <a:ext cx="10908792" cy="749808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330952"/>
            <a:ext cx="63500" cy="749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330952"/>
            <a:ext cx="63500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7080" y="54833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7080" y="5508752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0E11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8580" y="5457952"/>
            <a:ext cx="25603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Expand from proof of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0340" y="5457952"/>
            <a:ext cx="7772400" cy="49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4"/>
                </a:solidFill>
              </a:rPr>
              <a:t>Once drift detection is trusted, layer in accessibility scanning, then token propagation, then docs generation. Each agent earns its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E66FA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 to take away from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908792" cy="749808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63500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480" y="2143760"/>
            <a:ext cx="406400" cy="40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169160"/>
            <a:ext cx="406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0E11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94560"/>
            <a:ext cx="10019792" cy="44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1D9"/>
                </a:solidFill>
              </a:rPr>
              <a:t>Complexity has outpaced human bandwidth — agents aren't a trend, they're a necessity.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07208"/>
            <a:ext cx="10908792" cy="749808"/>
          </a:xfrm>
          <a:prstGeom prst="rect">
            <a:avLst/>
          </a:prstGeom>
          <a:solidFill>
            <a:srgbClr val="17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07208"/>
            <a:ext cx="63500" cy="749808"/>
          </a:xfrm>
          <a:prstGeom prst="rect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480" y="2985008"/>
            <a:ext cx="406400" cy="406400"/>
          </a:xfrm>
          <a:prstGeom prst="ellipse">
            <a:avLst/>
          </a:prstGeom>
          <a:solidFill>
            <a:srgbClr val="9E6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" y="3010408"/>
            <a:ext cx="406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0E11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0019792" cy="44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1D9"/>
                </a:solidFill>
              </a:rPr>
              <a:t>Clean token architecture is step zero. Garbage tokens mean confused agents.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48456"/>
            <a:ext cx="10908792" cy="749808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48456"/>
            <a:ext cx="6350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2480" y="3826256"/>
            <a:ext cx="406400" cy="406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" y="3851656"/>
            <a:ext cx="406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0E1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77056"/>
            <a:ext cx="10019792" cy="44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1D9"/>
                </a:solidFill>
              </a:rPr>
              <a:t>Start with one narrow agent and one verifiable win. Scale from proof of value, not grand vision.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9704"/>
            <a:ext cx="10908792" cy="749808"/>
          </a:xfrm>
          <a:prstGeom prst="rect">
            <a:avLst/>
          </a:prstGeom>
          <a:solidFill>
            <a:srgbClr val="17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89704"/>
            <a:ext cx="63500" cy="749808"/>
          </a:xfrm>
          <a:prstGeom prst="rect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480" y="4667504"/>
            <a:ext cx="406400" cy="406400"/>
          </a:xfrm>
          <a:prstGeom prst="ellipse">
            <a:avLst/>
          </a:prstGeom>
          <a:solidFill>
            <a:srgbClr val="F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80" y="4692904"/>
            <a:ext cx="406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0E11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18304"/>
            <a:ext cx="10019792" cy="44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1D9"/>
                </a:solidFill>
              </a:rPr>
              <a:t>Agents handle execution. You still own intent, quality bars, and the system's principles.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30952"/>
            <a:ext cx="10908792" cy="749808"/>
          </a:xfrm>
          <a:prstGeom prst="rect">
            <a:avLst/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330952"/>
            <a:ext cx="63500" cy="749808"/>
          </a:xfrm>
          <a:prstGeom prst="rect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2480" y="5508752"/>
            <a:ext cx="406400" cy="406400"/>
          </a:xfrm>
          <a:prstGeom prst="ellipse">
            <a:avLst/>
          </a:prstGeom>
          <a:solidFill>
            <a:srgbClr val="FA6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" y="5534152"/>
            <a:ext cx="406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0E11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559552"/>
            <a:ext cx="10019792" cy="44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1D9"/>
                </a:solidFill>
              </a:rPr>
              <a:t>The question isn't if your design system becomes agentic — it's how prepared you'll be when it does.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7315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E66FA"/>
                </a:solidFill>
              </a:rPr>
              <a:t>Build systems that build themselves. 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